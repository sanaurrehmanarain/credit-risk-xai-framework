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875520" y="365760"/>
            <a:ext cx="1828800" cy="18288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515600" y="1234440"/>
            <a:ext cx="1097280" cy="109728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183880" y="4475988"/>
            <a:ext cx="2103120" cy="21031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85039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"/>
              </a:rPr>
              <a:t>MACHINE LEARNING FOR
CREDIT RISK MODELING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514600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BD5E1"/>
                </a:solidFill>
                <a:latin typeface="Aptos"/>
              </a:rPr>
              <a:t>A Comparative Study of Traditional and Explainable AI Approaches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88620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Sana Ur Rehman Arain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01E36"/>
                </a:solidFill>
                <a:latin typeface="Aptos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The research question, approach, result and practical meaning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16152"/>
            <a:ext cx="10058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26517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64008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673351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1E36"/>
                </a:solidFill>
                <a:latin typeface="Aptos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075688"/>
            <a:ext cx="2286000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0F172A"/>
                </a:solidFill>
                <a:latin typeface="Aptos"/>
              </a:rPr>
              <a:t>Credit risk models must detect rare defaults while remaining explainable and defensible.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508760"/>
            <a:ext cx="26517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74720" y="1508760"/>
            <a:ext cx="64008" cy="1828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75887" y="1673351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1E36"/>
                </a:solidFill>
                <a:latin typeface="Aptos"/>
              </a:rPr>
              <a:t>Approach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7" y="2075688"/>
            <a:ext cx="2286000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0F172A"/>
                </a:solidFill>
                <a:latin typeface="Aptos"/>
              </a:rPr>
              <a:t>Compare Logistic Regression, Random Forest, XGBoost and LightGBM; use SMOTE and SHAP.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508760"/>
            <a:ext cx="26517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60" y="1508760"/>
            <a:ext cx="64008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10528" y="1673351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1E36"/>
                </a:solidFill>
                <a:latin typeface="Aptos"/>
              </a:rPr>
              <a:t>Finding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2075688"/>
            <a:ext cx="2286000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0F172A"/>
                </a:solidFill>
                <a:latin typeface="Aptos"/>
              </a:rPr>
              <a:t>LightGBM was selected for the most useful minority-class operating point despite RF's slightly higher AUC.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508760"/>
            <a:ext cx="2377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44000" y="1508760"/>
            <a:ext cx="64008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45168" y="1673351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1E36"/>
                </a:solidFill>
                <a:latin typeface="Aptos"/>
              </a:rPr>
              <a:t>Outcome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45168" y="2075688"/>
            <a:ext cx="2011680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0F172A"/>
                </a:solidFill>
                <a:latin typeface="Aptos"/>
              </a:rPr>
              <a:t>A transparent, leakage-aware framework suited to triage—not autonomous lending.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297680"/>
            <a:ext cx="2103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2563EB"/>
                </a:solidFill>
                <a:latin typeface="Aptos"/>
              </a:rPr>
              <a:t>3.4%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919472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exploratory threshold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4297680"/>
            <a:ext cx="2103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D9488"/>
                </a:solidFill>
                <a:latin typeface="Aptos"/>
              </a:rPr>
              <a:t>7.1%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4919472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precision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4297680"/>
            <a:ext cx="2103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59E0B"/>
                </a:solidFill>
                <a:latin typeface="Aptos"/>
              </a:rPr>
              <a:t>32.1%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6440" y="4919472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recall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297680"/>
            <a:ext cx="2103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01E36"/>
                </a:solidFill>
                <a:latin typeface="Aptos"/>
              </a:rPr>
              <a:t>0.659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919472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LightGBM ROC AUC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73952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Machine Learning for Credit Risk Modeling  •  Thesis Defence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01E36"/>
                </a:solidFill>
                <a:latin typeface="Aptos"/>
              </a:rPr>
              <a:t>Research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16152"/>
            <a:ext cx="10058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77240" y="1508760"/>
            <a:ext cx="594360" cy="5943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618488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490472"/>
            <a:ext cx="9509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ptos"/>
              </a:rPr>
              <a:t>Compare Logistic Regression with Random Forest, XGBoost and LightGBM.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624328"/>
            <a:ext cx="594360" cy="5943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606040"/>
            <a:ext cx="9509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0F172A"/>
                </a:solidFill>
                <a:latin typeface="Aptos"/>
              </a:rPr>
              <a:t>Address the 1.8% default-rate imbalance using SMOTE.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739896"/>
            <a:ext cx="594360" cy="5943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3849624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721608"/>
            <a:ext cx="9509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0F172A"/>
                </a:solidFill>
                <a:latin typeface="Aptos"/>
              </a:rPr>
              <a:t>Demonstrate transparency using SHAP values.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855464"/>
            <a:ext cx="594360" cy="59436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4965192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837176"/>
            <a:ext cx="9509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0F172A"/>
                </a:solidFill>
                <a:latin typeface="Aptos"/>
              </a:rPr>
              <a:t>Conduct a preliminary fairness analysis using income as a proxy.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Machine Learning for Credit Risk Modeling  •  Thesis Defence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01E36"/>
                </a:solidFill>
                <a:latin typeface="Aptos"/>
              </a:rPr>
              <a:t>Data &amp; Problem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OpenIntro Loans Full Schema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16152"/>
            <a:ext cx="10058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737360"/>
            <a:ext cx="2148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2563EB"/>
                </a:solidFill>
                <a:latin typeface="Aptos"/>
              </a:rPr>
              <a:t>10,000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31343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Aptos"/>
              </a:rPr>
              <a:t>loans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50876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85032" y="1737360"/>
            <a:ext cx="2148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0D9488"/>
                </a:solidFill>
                <a:latin typeface="Aptos"/>
              </a:rPr>
              <a:t>55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2" y="231343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Aptos"/>
              </a:rPr>
              <a:t>raw variables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50876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9672" y="1737360"/>
            <a:ext cx="2148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59E0B"/>
                </a:solidFill>
                <a:latin typeface="Aptos"/>
              </a:rPr>
              <a:t>1.8%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31343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Aptos"/>
              </a:rPr>
              <a:t>default 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20" y="150876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54312" y="1737360"/>
            <a:ext cx="2148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0EA5E9"/>
                </a:solidFill>
                <a:latin typeface="Aptos"/>
              </a:rPr>
              <a:t>113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54312" y="231343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Aptos"/>
              </a:rPr>
              <a:t>encoded predictors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33756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1E36"/>
                </a:solidFill>
                <a:latin typeface="Aptos"/>
              </a:rPr>
              <a:t>Key financial variables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79476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t>• Annual income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t>• Debt-to-income ratio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t>• Loan amount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t>• Interest rate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t>• Loan grade / term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33375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1E36"/>
                </a:solidFill>
                <a:latin typeface="Aptos"/>
              </a:rPr>
              <a:t>Target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3794760"/>
            <a:ext cx="42976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Aptos"/>
              </a:rPr>
              <a:t>Binary classification
0 = Fully Paid / Current
1 = Default / Charged Off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Machine Learning for Credit Risk Modeling  •  Thesis Defence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01E36"/>
                </a:solidFill>
                <a:latin typeface="Aptos"/>
              </a:rPr>
              <a:t>Methodology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Leakage prevention is central to the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16152"/>
            <a:ext cx="10058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2011680"/>
            <a:ext cx="16002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2212848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21408"/>
            <a:ext cx="9601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dirty="0">
                <a:solidFill>
                  <a:srgbClr val="101E36"/>
                </a:solidFill>
                <a:latin typeface="Aptos"/>
              </a:rPr>
              <a:t>Clean &amp; validate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7128" y="2487168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41448" y="2011680"/>
            <a:ext cx="16002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14600" y="2212848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D9488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15768" y="2209499"/>
            <a:ext cx="1451152" cy="6924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dirty="0">
                <a:solidFill>
                  <a:srgbClr val="101E36"/>
                </a:solidFill>
                <a:latin typeface="Aptos"/>
              </a:rPr>
              <a:t>Drop post-origination
leakage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05656" y="2487168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9976" y="2011680"/>
            <a:ext cx="16002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53128" y="2212848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59E0B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2896" y="2121408"/>
            <a:ext cx="9601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01E36"/>
                </a:solidFill>
                <a:latin typeface="Aptos"/>
              </a:rPr>
              <a:t>70/30 stratified
split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44184" y="2487168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18504" y="2011680"/>
            <a:ext cx="16002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91656" y="2212848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EA5E9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21424" y="2121408"/>
            <a:ext cx="9601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01E36"/>
                </a:solidFill>
                <a:latin typeface="Aptos"/>
              </a:rPr>
              <a:t>SMOTE on
training 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82712" y="2487168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57032" y="2011680"/>
            <a:ext cx="16002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30184" y="2212848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59952" y="2121408"/>
            <a:ext cx="9601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01E36"/>
                </a:solidFill>
                <a:latin typeface="Aptos"/>
              </a:rPr>
              <a:t>Train 4 models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21240" y="2487168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95560" y="2011680"/>
            <a:ext cx="16002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268712" y="2212848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D9488"/>
                </a:solidFill>
                <a:latin typeface="Apto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2121408"/>
            <a:ext cx="9601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01E36"/>
                </a:solidFill>
                <a:latin typeface="Aptos"/>
              </a:rPr>
              <a:t>SHAP + fairness
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160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1E36"/>
                </a:solidFill>
                <a:latin typeface="Aptos"/>
              </a:rPr>
              <a:t>Critical validation insight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572000"/>
            <a:ext cx="105156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Aptos"/>
              </a:rPr>
              <a:t>Including post-origination repayment artifacts inflated performance to ROC AUC 0.83 and precision 55.6%. Removing them produced the honest at-origination baseline: ROC AUC 0.66 and optimized precision 7.1%.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473952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Machine Learning for Credit Risk Modeling  •  Thesis Defence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0140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01E36"/>
                </a:solidFill>
                <a:latin typeface="Aptos"/>
              </a:rPr>
              <a:t>Why Class Imbalance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16152"/>
            <a:ext cx="10058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1E36"/>
                </a:solidFill>
                <a:latin typeface="Aptos"/>
              </a:rPr>
              <a:t>Class distribution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11680"/>
            <a:ext cx="9875520" cy="65836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7240" y="2011680"/>
            <a:ext cx="9701784" cy="65836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157984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98.2%  Good / non-default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479024" y="2011680"/>
            <a:ext cx="173736" cy="6583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0" y="28346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DC2626"/>
                </a:solidFill>
                <a:latin typeface="Aptos"/>
              </a:rPr>
              <a:t>1.8% default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657600"/>
            <a:ext cx="48463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3657600"/>
            <a:ext cx="64008" cy="1600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78408" y="3822191"/>
            <a:ext cx="44805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1E36"/>
                </a:solidFill>
                <a:latin typeface="Aptos"/>
              </a:rPr>
              <a:t>Accuracy paradox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4224528"/>
            <a:ext cx="4480559" cy="886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0F172A"/>
                </a:solidFill>
                <a:latin typeface="Aptos"/>
              </a:rPr>
              <a:t>A naive all-good classifier reaches ~98% accuracy while detecting essentially no defaults.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97880" y="3657600"/>
            <a:ext cx="48463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97880" y="3657600"/>
            <a:ext cx="64008" cy="1600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99048" y="3822191"/>
            <a:ext cx="44805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1E36"/>
                </a:solidFill>
                <a:latin typeface="Aptos"/>
              </a:rPr>
              <a:t>SMOTE response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9048" y="4224528"/>
            <a:ext cx="4480559" cy="886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0F172A"/>
                </a:solidFill>
                <a:latin typeface="Aptos"/>
              </a:rPr>
              <a:t>SMOTE was applied only to the training partition to create a balanced 50/50 learning set without contaminating the hold-out test set.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Machine Learning for Credit Risk Modeling  •  Thesis Defence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01E36"/>
                </a:solidFill>
                <a:latin typeface="Aptos"/>
              </a:rPr>
              <a:t>Model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Standard 0.50 threshold metrics from the thesis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16152"/>
            <a:ext cx="10058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572768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572768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ROC AUC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572768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Precision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572768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Recall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157276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F1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5740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01E36"/>
                </a:solidFill>
                <a:latin typeface="Aptos"/>
              </a:rPr>
              <a:t>Random Forest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0574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0F172A"/>
                </a:solidFill>
                <a:latin typeface="Aptos"/>
              </a:rPr>
              <a:t>0.670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0574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0F172A"/>
                </a:solidFill>
                <a:latin typeface="Aptos"/>
              </a:rPr>
              <a:t>0.000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0574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0F172A"/>
                </a:solidFill>
                <a:latin typeface="Aptos"/>
              </a:rPr>
              <a:t>0.000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0574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0F172A"/>
                </a:solidFill>
                <a:latin typeface="Aptos"/>
              </a:rPr>
              <a:t>0.000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569464"/>
            <a:ext cx="100584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288036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1E36"/>
                </a:solidFill>
                <a:latin typeface="Aptos"/>
              </a:rPr>
              <a:t>LightGBM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88036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Aptos"/>
              </a:rPr>
              <a:t>0.659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88036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Aptos"/>
              </a:rPr>
              <a:t>0.250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88036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Aptos"/>
              </a:rPr>
              <a:t>0.019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88036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Aptos"/>
              </a:rPr>
              <a:t>0.035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392424"/>
            <a:ext cx="100584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370332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01E36"/>
                </a:solidFill>
                <a:latin typeface="Aptos"/>
              </a:rPr>
              <a:t>XGBoost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70332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0F172A"/>
                </a:solidFill>
                <a:latin typeface="Aptos"/>
              </a:rPr>
              <a:t>0.644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370332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0F172A"/>
                </a:solidFill>
                <a:latin typeface="Aptos"/>
              </a:rPr>
              <a:t>0.200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370332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0F172A"/>
                </a:solidFill>
                <a:latin typeface="Aptos"/>
              </a:rPr>
              <a:t>0.019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370332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0F172A"/>
                </a:solidFill>
                <a:latin typeface="Aptos"/>
              </a:rPr>
              <a:t>0.034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4215383"/>
            <a:ext cx="100584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5800" y="452628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01E36"/>
                </a:solidFill>
                <a:latin typeface="Aptos"/>
              </a:rPr>
              <a:t>Logistic Regression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452628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0F172A"/>
                </a:solidFill>
                <a:latin typeface="Aptos"/>
              </a:rPr>
              <a:t>0.575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452628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0F172A"/>
                </a:solidFill>
                <a:latin typeface="Aptos"/>
              </a:rPr>
              <a:t>0.023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452628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0F172A"/>
                </a:solidFill>
                <a:latin typeface="Aptos"/>
              </a:rPr>
              <a:t>0.472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52628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0F172A"/>
                </a:solidFill>
                <a:latin typeface="Aptos"/>
              </a:rPr>
              <a:t>0.044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5038344"/>
            <a:ext cx="100584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" y="553212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1E36"/>
                </a:solidFill>
                <a:latin typeface="Aptos"/>
              </a:rPr>
              <a:t>Interpretation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74519" y="5413248"/>
            <a:ext cx="8961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Aptos"/>
              </a:rPr>
              <a:t>Random Forest has the highest AUC, but at 0.50 it collapses to the majority class. LightGBM was therefore chosen for threshold optimization and minority-class detection.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473952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Machine Learning for Credit Risk Modeling  •  Thesis Defence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0140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01E36"/>
                </a:solidFill>
                <a:latin typeface="Aptos"/>
              </a:rPr>
              <a:t>Decision Threshold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The 3.4% operating point is exploratory—not a final deployment threshold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16152"/>
            <a:ext cx="10058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822960" y="5303520"/>
            <a:ext cx="5577840" cy="0"/>
          </a:xfrm>
          <a:prstGeom prst="line">
            <a:avLst/>
          </a:prstGeom>
          <a:ln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822960" y="1828800"/>
            <a:ext cx="0" cy="3474720"/>
          </a:xfrm>
          <a:prstGeom prst="line">
            <a:avLst/>
          </a:prstGeom>
          <a:ln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822960" y="4617720"/>
            <a:ext cx="640080" cy="365760"/>
          </a:xfrm>
          <a:prstGeom prst="line">
            <a:avLst/>
          </a:prstGeom>
          <a:ln w="381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463040" y="4251960"/>
            <a:ext cx="640080" cy="365760"/>
          </a:xfrm>
          <a:prstGeom prst="line">
            <a:avLst/>
          </a:prstGeom>
          <a:ln w="381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2103120" y="3886200"/>
            <a:ext cx="640080" cy="365760"/>
          </a:xfrm>
          <a:prstGeom prst="line">
            <a:avLst/>
          </a:prstGeom>
          <a:ln w="381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743200" y="3611880"/>
            <a:ext cx="640080" cy="274320"/>
          </a:xfrm>
          <a:prstGeom prst="line">
            <a:avLst/>
          </a:prstGeom>
          <a:ln w="381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383280" y="3383280"/>
            <a:ext cx="640080" cy="228600"/>
          </a:xfrm>
          <a:prstGeom prst="line">
            <a:avLst/>
          </a:prstGeom>
          <a:ln w="381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4023360" y="3200400"/>
            <a:ext cx="640080" cy="182880"/>
          </a:xfrm>
          <a:prstGeom prst="line">
            <a:avLst/>
          </a:prstGeom>
          <a:ln w="381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663440" y="3063240"/>
            <a:ext cx="640080" cy="137160"/>
          </a:xfrm>
          <a:prstGeom prst="line">
            <a:avLst/>
          </a:prstGeom>
          <a:ln w="381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5303520" y="2971800"/>
            <a:ext cx="640080" cy="91440"/>
          </a:xfrm>
          <a:prstGeom prst="line">
            <a:avLst/>
          </a:prstGeom>
          <a:ln w="381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709160" y="2926080"/>
            <a:ext cx="228600" cy="2286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89120" y="248716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Aptos"/>
              </a:rPr>
              <a:t>~3.4%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333756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Recall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54864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Precision 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03720" y="1874519"/>
            <a:ext cx="4389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903720" y="1874519"/>
            <a:ext cx="64008" cy="1234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04888" y="2039112"/>
            <a:ext cx="40233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1E36"/>
                </a:solidFill>
                <a:latin typeface="Aptos"/>
              </a:rPr>
              <a:t>Precision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04888" y="2441448"/>
            <a:ext cx="4023359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0F172A"/>
                </a:solidFill>
                <a:latin typeface="Aptos"/>
              </a:rPr>
              <a:t>7.1%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03720" y="3337560"/>
            <a:ext cx="4389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903720" y="3337560"/>
            <a:ext cx="64008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04888" y="3502152"/>
            <a:ext cx="40233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1E36"/>
                </a:solidFill>
                <a:latin typeface="Aptos"/>
              </a:rPr>
              <a:t>Recall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04888" y="3904487"/>
            <a:ext cx="4023359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0F172A"/>
                </a:solidFill>
                <a:latin typeface="Aptos"/>
              </a:rPr>
              <a:t>32.1%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3720" y="4800600"/>
            <a:ext cx="4389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903720" y="4800600"/>
            <a:ext cx="64008" cy="1234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04888" y="4965192"/>
            <a:ext cx="40233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1E36"/>
                </a:solidFill>
                <a:latin typeface="Aptos"/>
              </a:rPr>
              <a:t>Caveat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04888" y="5367528"/>
            <a:ext cx="4023359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0F172A"/>
                </a:solidFill>
                <a:latin typeface="Aptos"/>
              </a:rPr>
              <a:t>Threshold tuned on the hold-out test set; metrics are optimistic.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473952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Machine Learning for Credit Risk Modeling  •  Thesis Defence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0140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01E36"/>
                </a:solidFill>
                <a:latin typeface="Aptos"/>
              </a:rPr>
              <a:t>Explainable AI with SHAP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From global importance to borrower-level reasoning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16152"/>
            <a:ext cx="10058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32918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554480"/>
            <a:ext cx="64008" cy="3566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71907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1E36"/>
                </a:solidFill>
                <a:latin typeface="Aptos"/>
              </a:rPr>
              <a:t>1 • Global drivers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121408"/>
            <a:ext cx="2926080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0F172A"/>
                </a:solidFill>
                <a:latin typeface="Aptos"/>
              </a:rPr>
              <a:t>Loan grade
Interest rate
Income verification
Loan term
Debt-to-income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54480"/>
            <a:ext cx="32918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554480"/>
            <a:ext cx="64008" cy="3566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36007" y="171907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1E36"/>
                </a:solidFill>
                <a:latin typeface="Aptos"/>
              </a:rPr>
              <a:t>2 • Direction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121408"/>
            <a:ext cx="2926080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0F172A"/>
                </a:solidFill>
                <a:latin typeface="Aptos"/>
              </a:rPr>
              <a:t>SHAP shows not only which features matter, but whether each feature pushes the prediction toward higher or lower default risk.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554480"/>
            <a:ext cx="32918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83879" y="1554480"/>
            <a:ext cx="64008" cy="3566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85048" y="171907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1E36"/>
                </a:solidFill>
                <a:latin typeface="Aptos"/>
              </a:rPr>
              <a:t>3 • Local explanation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2121408"/>
            <a:ext cx="2926080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0F172A"/>
                </a:solidFill>
                <a:latin typeface="Aptos"/>
              </a:rPr>
              <a:t>For an individual borrower, SHAP decomposes the prediction into risk amplifiers and mitigating factors—supporting adverse-action rationale.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2356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01E36"/>
                </a:solidFill>
                <a:latin typeface="Aptos"/>
              </a:rPr>
              <a:t>Key message: a complex model can be made inspectable at both portfolio and applicant level.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Machine Learning for Credit Risk Modeling  •  Thesis Defence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01E36"/>
                </a:solidFill>
                <a:latin typeface="Aptos"/>
              </a:rPr>
              <a:t>Borrower-Level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Why local explanations matter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16152"/>
            <a:ext cx="10058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64748B"/>
                </a:solidFill>
                <a:latin typeface="Aptos"/>
              </a:rPr>
              <a:t>Example model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2743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2563EB"/>
                </a:solidFill>
                <a:latin typeface="Aptos"/>
              </a:rPr>
              <a:t>≈ 1.7%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uncalibrated probability for the illustrated borrower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554480"/>
            <a:ext cx="3063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0" y="1554480"/>
            <a:ext cx="64008" cy="1417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73168" y="1719072"/>
            <a:ext cx="2697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1E36"/>
                </a:solidFill>
                <a:latin typeface="Aptos"/>
              </a:rPr>
              <a:t>Risk amplifier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2121408"/>
            <a:ext cx="269748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0F172A"/>
                </a:solidFill>
                <a:latin typeface="Aptos"/>
              </a:rPr>
              <a:t>grade_D pushed the score upward.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1554480"/>
            <a:ext cx="3063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909560" y="1554480"/>
            <a:ext cx="64008" cy="1417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10728" y="1719072"/>
            <a:ext cx="2697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1E36"/>
                </a:solidFill>
                <a:latin typeface="Aptos"/>
              </a:rPr>
              <a:t>Mitigator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0728" y="2121408"/>
            <a:ext cx="269748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0F172A"/>
                </a:solidFill>
                <a:latin typeface="Aptos"/>
              </a:rPr>
              <a:t>Payment history and other features reduced risk.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3246120"/>
            <a:ext cx="6400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0" y="3246120"/>
            <a:ext cx="64008" cy="1508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73168" y="3410712"/>
            <a:ext cx="6035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1E36"/>
                </a:solidFill>
                <a:latin typeface="Aptos"/>
              </a:rPr>
              <a:t>Important nuance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73168" y="3813048"/>
            <a:ext cx="603504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0F172A"/>
                </a:solidFill>
                <a:latin typeface="Aptos"/>
              </a:rPr>
              <a:t>A 60-month term increased risk globally but reduced risk for this borrower locally. The divergence illustrates nonlinear interaction effects captured by LightGBM.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3492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01E36"/>
                </a:solidFill>
                <a:latin typeface="Aptos"/>
              </a:rPr>
              <a:t>SHAP therefore complements, rather than replaces, underwriting judgment.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Machine Learning for Credit Risk Modeling  •  Thesis Defence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01E36"/>
                </a:solidFill>
                <a:latin typeface="Aptos"/>
              </a:rPr>
              <a:t>Fairness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Preliminary evidence only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16152"/>
            <a:ext cx="10058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1E36"/>
                </a:solidFill>
                <a:latin typeface="Aptos"/>
              </a:rPr>
              <a:t>False Positive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4748B"/>
                </a:solidFill>
                <a:latin typeface="Aptos"/>
              </a:rPr>
              <a:t>Low income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514600"/>
            <a:ext cx="2926080" cy="45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2514600"/>
            <a:ext cx="1575581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94760" y="253288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D9488"/>
                </a:solidFill>
                <a:latin typeface="Aptos"/>
              </a:rPr>
              <a:t>0.07%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9659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4748B"/>
                </a:solidFill>
                <a:latin typeface="Aptos"/>
              </a:rPr>
              <a:t>High income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2514600"/>
            <a:ext cx="2926080" cy="45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937760" y="2514600"/>
            <a:ext cx="292608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09560" y="253288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Aptos"/>
              </a:rPr>
              <a:t>0.13%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703320"/>
            <a:ext cx="4800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7240" y="3703320"/>
            <a:ext cx="64008" cy="1417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78408" y="3867911"/>
            <a:ext cx="4434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1E36"/>
                </a:solidFill>
                <a:latin typeface="Aptos"/>
              </a:rPr>
              <a:t>Observed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4270248"/>
            <a:ext cx="443484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0F172A"/>
                </a:solidFill>
                <a:latin typeface="Aptos"/>
              </a:rPr>
              <a:t>No evidence of disparate impact under the evaluated FPR-parity metric; low-income FPR was lower (0.07% vs 0.13%).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97880" y="3703320"/>
            <a:ext cx="4800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897880" y="3703320"/>
            <a:ext cx="64008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99048" y="3867911"/>
            <a:ext cx="4434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1E36"/>
                </a:solidFill>
                <a:latin typeface="Aptos"/>
              </a:rPr>
              <a:t>Limitation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9048" y="4270248"/>
            <a:ext cx="443484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0F172A"/>
                </a:solidFill>
                <a:latin typeface="Aptos"/>
              </a:rPr>
              <a:t>The dataset lacks protected demographic attributes and contains very few default events; this is not a definitive regulatory audit.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Machine Learning for Credit Risk Modeling  •  Thesis Defence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01E36"/>
                </a:solidFill>
                <a:latin typeface="Aptos"/>
              </a:rPr>
              <a:t>Stress Testing &amp; Production Implications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16152"/>
            <a:ext cx="10058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33375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64008" cy="187451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719072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1E36"/>
                </a:solidFill>
                <a:latin typeface="Aptos"/>
              </a:rPr>
              <a:t>Adversarial stress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121408"/>
            <a:ext cx="2971800" cy="11612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0F172A"/>
                </a:solidFill>
                <a:latin typeface="Aptos"/>
              </a:rPr>
              <a:t>50 extreme profiles stressed interest rate and DTI. Outputs remained bounded and numerically stable.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54480"/>
            <a:ext cx="33375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1554480"/>
            <a:ext cx="64008" cy="1874519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36007" y="1719072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1E36"/>
                </a:solidFill>
                <a:latin typeface="Aptos"/>
              </a:rPr>
              <a:t>But no extrapolation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121408"/>
            <a:ext cx="2971800" cy="11612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0F172A"/>
                </a:solidFill>
                <a:latin typeface="Aptos"/>
              </a:rPr>
              <a:t>Maximum stressed PD was 0.422 vs 0.675 in-distribution—showing the tree model can understate novel tail risk.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554480"/>
            <a:ext cx="33375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83879" y="1554480"/>
            <a:ext cx="64008" cy="1874519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85048" y="1719072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1E36"/>
                </a:solidFill>
                <a:latin typeface="Aptos"/>
              </a:rPr>
              <a:t>Governance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2121408"/>
            <a:ext cx="2971800" cy="11612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0F172A"/>
                </a:solidFill>
                <a:latin typeface="Aptos"/>
              </a:rPr>
              <a:t>Production use requires drift monitoring, validation, optimized SHAP inference and human oversight.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977639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1E36"/>
                </a:solidFill>
                <a:latin typeface="Aptos"/>
              </a:rPr>
              <a:t>Recommended role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407408"/>
            <a:ext cx="5486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563EB"/>
                </a:solidFill>
                <a:latin typeface="Aptos"/>
              </a:rPr>
              <a:t>TRIAGE &amp; PRIORITIZATION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010912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Aptos"/>
              </a:rPr>
              <a:t>Use the PD score to prioritize manual review, not as an autonomous approval/denial engine.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Machine Learning for Credit Risk Modeling  •  Thesis Defence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01E36"/>
                </a:solidFill>
                <a:latin typeface="Aptos"/>
              </a:rPr>
              <a:t>Limitations &amp; Threats to Validity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16152"/>
            <a:ext cx="10058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ptos"/>
              </a:defRPr>
            </a:pPr>
            <a:r>
              <a:t>• Only 10,000 observations; 113 encoded predictors increase overfitting risk.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ptos"/>
              </a:defRPr>
            </a:pPr>
            <a:r>
              <a:t>• Threshold selection used the hold-out test set, introducing optimistic bias.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ptos"/>
              </a:defRPr>
            </a:pPr>
            <a:r>
              <a:t>• Recall remains 32.1% at the exploratory operating point.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ptos"/>
              </a:defRPr>
            </a:pPr>
            <a:r>
              <a:t>• Fairness analysis relies on income proxies because protected demographic fields are absent.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ptos"/>
              </a:defRPr>
            </a:pPr>
            <a:r>
              <a:t>• No statistical significance tests such as McNemar's test or bootstrapped confidence intervals were performed.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ptos"/>
              </a:defRPr>
            </a:pPr>
            <a:r>
              <a:t>• Stress testing shows tree-based models may understate genuinely out-of-distribution risk.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1500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01E36"/>
                </a:solidFill>
                <a:latin typeface="Aptos"/>
              </a:rPr>
              <a:t>These limitations are part of the contribution: the thesis explicitly distinguishes promising evidence from deployment-grade validation.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Machine Learning for Credit Risk Modeling  •  Thesis Defence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01E36"/>
                </a:solidFill>
                <a:latin typeface="Aptos"/>
              </a:rPr>
              <a:t>Future Research &amp; Deployment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16152"/>
            <a:ext cx="10058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64008" cy="1600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673351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1E36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75688"/>
            <a:ext cx="2971800" cy="886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0F172A"/>
                </a:solidFill>
                <a:latin typeface="Aptos"/>
              </a:rPr>
              <a:t>Two-stage PD → LGD/EAD → Expected Loss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0876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508760"/>
            <a:ext cx="64008" cy="1600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673351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1E36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075688"/>
            <a:ext cx="2971800" cy="886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0F172A"/>
                </a:solidFill>
                <a:latin typeface="Aptos"/>
              </a:rPr>
              <a:t>Cost-sensitive threshold optimization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50876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508760"/>
            <a:ext cx="64008" cy="1600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3608" y="1673351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1E36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075688"/>
            <a:ext cx="2971800" cy="886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0F172A"/>
                </a:solidFill>
                <a:latin typeface="Aptos"/>
              </a:rPr>
              <a:t>Full demographic fairness validation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56616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3566160"/>
            <a:ext cx="64008" cy="16002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" y="3730752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1E36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133087"/>
            <a:ext cx="2971800" cy="886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0F172A"/>
                </a:solidFill>
                <a:latin typeface="Aptos"/>
              </a:rPr>
              <a:t>Production deployment + drift monitoring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56616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89120" y="3566160"/>
            <a:ext cx="64008" cy="1600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90288" y="3730752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1E36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4133087"/>
            <a:ext cx="2971800" cy="886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0F172A"/>
                </a:solidFill>
                <a:latin typeface="Aptos"/>
              </a:rPr>
              <a:t>Larger, temporal and external 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73952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Machine Learning for Credit Risk Modeling  •  Thesis Defence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5156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A constrained LightGBM + SHAP framework can improve minority-class credit-risk detection while preserving interpretability.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15468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3154680"/>
            <a:ext cx="64008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331927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1E36"/>
                </a:solidFill>
                <a:latin typeface="Aptos"/>
              </a:rPr>
              <a:t>Predictive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721608"/>
            <a:ext cx="3017520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0F172A"/>
                </a:solidFill>
                <a:latin typeface="Aptos"/>
              </a:rPr>
              <a:t>LightGBM provided a useful operating point under severe imbalance.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315468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59" y="3154680"/>
            <a:ext cx="64008" cy="1828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81727" y="331927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1E36"/>
                </a:solidFill>
                <a:latin typeface="Aptos"/>
              </a:rPr>
              <a:t>Transparent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7" y="3721608"/>
            <a:ext cx="3017520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0F172A"/>
                </a:solidFill>
                <a:latin typeface="Aptos"/>
              </a:rPr>
              <a:t>SHAP connected model outputs to portfolio and borrower-level reasoning.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15468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0" y="3154680"/>
            <a:ext cx="64008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30768" y="331927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1E36"/>
                </a:solidFill>
                <a:latin typeface="Aptos"/>
              </a:rPr>
              <a:t>Responsible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3721608"/>
            <a:ext cx="3017520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0F172A"/>
                </a:solidFill>
                <a:latin typeface="Aptos"/>
              </a:rPr>
              <a:t>Leakage prevention, fairness caveats and stress testing were treated as first-class requirements.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1083</Words>
  <Application>Microsoft Office PowerPoint</Application>
  <PresentationFormat>Widescreen</PresentationFormat>
  <Paragraphs>212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Sana Arain</cp:lastModifiedBy>
  <cp:revision>4</cp:revision>
  <dcterms:created xsi:type="dcterms:W3CDTF">2013-01-27T09:14:16Z</dcterms:created>
  <dcterms:modified xsi:type="dcterms:W3CDTF">2026-09-28T18:22:51Z</dcterms:modified>
  <cp:category/>
</cp:coreProperties>
</file>